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Yumuşak Doku Hastalıkları</a:t>
            </a:r>
          </a:p>
          <a:p/>
          <a:p>
            <a:r>
              <a:t>Günaydın. Bugün iki ders arka arkaya: önce ağzın yumuşak doku hastalıkları, sonra tükürük bezleri. Sağdaki görüntü bir schwannom; dersin ortasında mikroskopta tanıyacaksınız. Karekod perdede: okutun; hesap yok, uygulama yok. Takma ad isterseniz yazın; dersin sonunda liderlik tablosu var. Herkes girince → ile vakaya geçiyoruz. (L: katılım ekranını gizle/göster.)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 vakası: dil sırtında nodül · 5/5</a:t>
            </a:r>
          </a:p>
          <a:p/>
          <a:p>
            <a:r>
              <a:t>Sigara ve alkol kullanmıyor. Fotoğrafa bakın ve tahmininizi telefondan girin; şıklar açık. Cevabı dersin sonunda açacağım.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 vakası: tahminin ne?</a:t>
            </a:r>
          </a:p>
          <a:p/>
          <a:p>
            <a:r>
              <a:t>Sonuçları gösteriyorum ama yorum yapmıyorum. Şıklardan biri kötü huylu, dördü iyi huylu ya da reaktif. Dersin sonunda biyopsi sonucuyla birlikte aynı soruyu yeniden soracağım.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Dersin planı: üç grup · 4/4</a:t>
            </a:r>
          </a:p>
          <a:p/>
          <a:p>
            <a:r>
              <a:t>Her hastalıkta aynı dört soruyu soracağız: hangi doku, kaç yaş, ağızda nerede, mikroskopta ne var. Rakamlar Neville 5. baskıdan; kaynakların ayrıldığı yerleri ayrıca söyleyeceğim.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Hamartom ve koristom · 6/6</a:t>
            </a:r>
          </a:p>
          <a:p/>
          <a:p>
            <a:r>
              <a:t>Eksizyon yeterli; nüks bildirilmemiş.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Juvenil hiyalen fibromatozis · 5/5</a:t>
            </a:r>
          </a:p>
          <a:p/>
          <a:p>
            <a:r>
              <a:t>Mikroskopta hücreden fakir, camsı bir matriks görürüz; PAS ve Alcian mavisi ile boyanır.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Fibromatozis colli (tortikollis) · 6/6</a:t>
            </a:r>
          </a:p>
          <a:p/>
          <a:p>
            <a:r>
              <a:t>Tedavi fizik tedavi; kendiliğinden gerileyebilir. Tedavi edilmezse ileride yüzde asimetri kalabilir.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Keloid ve hipertrofik skar · 4/4</a:t>
            </a:r>
          </a:p>
          <a:p/>
          <a:p>
            <a:r>
              <a:t>Mikroskopta keloidde kalın, camsı kollajen demetleri görürüz.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Nodüler fasiitis: hızlı büyür ama iyi huyludur · 7/7</a:t>
            </a:r>
          </a:p>
          <a:p/>
          <a:p>
            <a:r>
              <a:t>Patoloji kaynaklarında genellikle neoplastik olmayan lezyonlar arasında sayılır; WHO 2022 ise USP6 gen değişikliği nedeniyle kendiliğinden geçen bir neoplazi diyor. Tedavi değişmiyor: yerel eksizyon yeterli, nüks nadir. Şimdi telefon.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Patolog gibi düşün</a:t>
            </a:r>
          </a:p>
          <a:p/>
          <a:p>
            <a:r>
              <a:t>Rapor geldi. Ne dersiniz, ne yaparsınız? (Sonuç.) Doğru B: nodüler fasiitis, yerel eksizyon yeterli. Hızlı büyüme ve bol mitoz sizi sarkoma götürebilir; ama atipik mitoz yok, pleomorfizm yok ve ekstravaze eritrositler var. Bu hastaya geniş rezeksiyon yapmak en büyük hata olur.</a:t>
            </a:r>
          </a:p>
          <a:p/>
          <a:p>
            <a:r>
              <a:t>Doğru cevap: B) Nodüler fasiitis; yerel eksizyon yeterli. Hızlı büyüme ve bol mitoz sarkomu düşündürür, ama atipik mitoz ve pleomorfizm yok; gevşek zemin ve ekstravaze eritrositler nodüler fasiitisin tipik bulguları. Yerel eksizyon yeterli, nüks nadir. Bu tabloyu sarkom sanıp hastaya geniş rezeksiyon yapmak en büyük hata olur.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Oral fokal müsinozis · 5/5</a:t>
            </a:r>
          </a:p>
          <a:p/>
          <a:p>
            <a:r>
              <a:t>Eksizyon yeterli, nüks etmez.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Travmatik nöroma · 6/6</a:t>
            </a:r>
          </a:p>
          <a:p/>
          <a:p>
            <a:r>
              <a:t>Tedavi sinirin proksimal ucuyla birlikte eksizyon. Sırada iyi huylu tümörler.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Diş eti ve protezle ilişkili reaktif kitleler · 6/6</a:t>
            </a:r>
          </a:p>
          <a:p/>
          <a:p>
            <a:r>
              <a:t>İnflamatuvar papiller hiperplazi protezin altında, sert damakta çakıl taşı gibi papiller. İkisinde de protez düzeltilmezse lezyon geri gelir.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 ve histiyosit kökenli iyi huylu tümörler · 8/8</a:t>
            </a:r>
          </a:p>
          <a:p/>
          <a:p>
            <a:r>
              <a:t>Geyik boynuzu gibi dallanan damarlar; CD34 ve STAT6 pozitif.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Lipom · 6/6</a:t>
            </a:r>
          </a:p>
          <a:p/>
          <a:p>
            <a:r>
              <a:t>Hücrelerde atipi görürsek MDM2 ve CDK4 boyalarıyla iyi diferansiye liposarkomu dışlarız. Tedavi eksizyon; nüks nadir.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Palizatlı kapsüllü nöroma ve schwannom · 7/7</a:t>
            </a:r>
          </a:p>
          <a:p/>
          <a:p>
            <a:r>
              <a:t>Antoni B gevşek ve miksoiddir. S100 yaygın pozitif; kötü huylu dönüşüm neredeyse hiç olmaz.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Nörofibrom ve nörofibromatozis tip 1 · 7/7</a:t>
            </a:r>
          </a:p>
          <a:p/>
          <a:p>
            <a:r>
              <a:t>Bir not: dil ucunda ve dudaklarda çok sayıda küçük nöroma MEN 2B'yi düşündürür; bu hastaların hepsinde medüller tiroid karsinomu gelişir. Endokrinolojiye yönlendirin.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Dört mikroskop görüntüsü: hangisi schwannom?</a:t>
            </a:r>
          </a:p>
          <a:p/>
          <a:p>
            <a:r>
              <a:t>Dört mikroskop görüntüsü. Hangisi schwannom? (Sonuç.) Doğru B: çekirdeklerin sıra sıra dizildiği Antoni A alanı. A nörofibrom: dalgalı çekirdekli, düzensiz iğsi hücreler. C leiomiyom: küt uçlu çekirdekli düz kas demetleri. D oral fokal müsinozis: gevşek, miksoid bağ dokusu.</a:t>
            </a:r>
          </a:p>
          <a:p/>
          <a:p>
            <a:r>
              <a:t>Doğru cevap: B. B: Antoni A alanı; iğsi hücrelerin çekirdekleri sıra sıra dizilir (palizat), aralarındaki pembe alanlar Verocay cisimcikleri. A nörofibrom (dalgalı çekirdekli, düzensiz iğsi hücreler), C leiomiyom (küt uçlu çekirdekli düz kas demetleri), D oral fokal müsinozis (gevşek, miksoid bağ dokusu).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Granüler hücreli tümör ve konjenital epulis · 7/7</a:t>
            </a:r>
          </a:p>
          <a:p/>
          <a:p>
            <a:r>
              <a:t>Nüksetmez; hatta kendiliğinden küçülebilir.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DUS Molası 1/2</a:t>
            </a:r>
          </a:p>
          <a:p/>
          <a:p>
            <a:r>
              <a:t>İlk DUS sorusu, Neville'in kitap sonundaki örnek sınav sorularından. 30 saniye. (Sonuç.) Konjenital epulis: yaklaşık yüzde 90'ı kız bebek. Granüler hücreli tümör de kadında sık, ama oran üçe bir.</a:t>
            </a:r>
          </a:p>
          <a:p/>
          <a:p>
            <a:r>
              <a:t>Doğru cevap: A) Konjenital epulis. Konjenital epulisin yaklaşık %90'ı kız bebeklerde görülür (WHO: K:E 7,7:1). Granüler hücreli tümör de kadında sıktır (3:1), ama bu kadar belirgin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DUS Molası 2/2</a:t>
            </a:r>
          </a:p>
          <a:p/>
          <a:p>
            <a:r>
              <a:t>İkinci soru. (Sonuç.) Nörofibromatozis tip 1. Lisch nodülleri irisin pigmentli hamartomları; NF1 hastalarının neredeyse hepsinde var. Sırada damar kökenli tümörler.</a:t>
            </a:r>
          </a:p>
          <a:p/>
          <a:p>
            <a:r>
              <a:t>Doğru cevap: D) Nörofibromatozis tip 1. Lisch nodülleri irisin pigmentli hamartomlarıdır; NF1 hastalarının neredeyse hepsinde bulunur.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Hemanjiyom mu, vasküler malformasyon mu? · 7/7</a:t>
            </a:r>
          </a:p>
          <a:p/>
          <a:p>
            <a:r>
              <a:t>Neville'den pratik uyarı: tanısı konmamış kemik içi bir lezyonda biyopsiden önce iğneyle aspirasyon yapın. Malformasyonun yanında diş çekiminden sonra ölümcül kanamalar bildirildi.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Sturge-Weber ve melanotik nöroektodermal tümör · 3/3</a:t>
            </a:r>
          </a:p>
          <a:p/>
          <a:p>
            <a:r>
              <a:t>Bebeğin melanotik nöroektodermal tümörü: bir yaşın altında, üst çene ön bölgede hızla büyüyen, mavi-siyah bir kitle; idrarda vanilmandelik asit yüksek olabilir.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Lenfanjiyom ve nazofarengeal anjiyofibrom · 7/7</a:t>
            </a:r>
          </a:p>
          <a:p/>
          <a:p>
            <a:r>
              <a:t>Ameliyattan önce embolizasyon yapılır; yüzde 20 ila 40 nükseder. WHO 2022'deki adı sinonazal anjiyofibrom.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Kas kökenli iyi huylu tümörler ve diğerleri · 7/7</a:t>
            </a:r>
          </a:p>
          <a:p/>
          <a:p>
            <a:r>
              <a:t>Tendon kılıfının dev hücreli tümörü patoloji kaynaklarında geçer ama ağızda çok nadir; Neville'de bu başlığı doğrulayamadım.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Sarkomlar: ortak özellikler · 6/6</a:t>
            </a:r>
          </a:p>
          <a:p/>
          <a:p>
            <a:r>
              <a:t>Davranışını tipi, derecesi, boyutu, evresi ve cerrahi sınır belirler. Baş-boyunda geniş sınır bırakmak zor; yerel nüks sık.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Pleomorfik sarkom, fibrosarkom, liposarkom · 8/8</a:t>
            </a:r>
          </a:p>
          <a:p/>
          <a:p>
            <a:r>
              <a:t>Bir uyuşmazlık: patoloji kaynaklarında en sık sarkom olarak pleomorfik sarkom geçer. Neville 5'e göre bu eski bilgi; malign fibröz histiyositom denen tümörlerin çoğu başka sarkomlara ayrıldı ve bugün en sık sarkom liposarkom.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Sinir ve damar kökenli sarkomlar · 9/9</a:t>
            </a:r>
          </a:p>
          <a:p/>
          <a:p>
            <a:r>
              <a:t>Mikroskopta iğsi hücreler, yarık benzeri damarlar ve ekstravaze eritrositler.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Kas kökenli sarkomlar ve diğerleri · 9/9</a:t>
            </a:r>
          </a:p>
          <a:p/>
          <a:p>
            <a:r>
              <a:t>Hücrelerde PAS pozitif, diastaza dirençli kristaller; TFE3 pozitif.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Ağız yumuşak dokusuna metastaz · 2/2</a:t>
            </a:r>
          </a:p>
          <a:p/>
          <a:p>
            <a:r>
              <a:t>Erkekte en sık akciğerden, kadında memeden gelir; hastaların dörtte birinde ağızdaki lezyon kanserin ilk bulgusu. Bu yüzden çıkardığınız her doku patolojiye gider.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 vakası: biyopsi sonucu · 3/3</a:t>
            </a:r>
          </a:p>
          <a:p/>
          <a:p>
            <a:r>
              <a:t>Rapor: yüzeyde psödoepitelyomatöz hiperplazi, invaziv karsinom dışlanamadı. Epitel aşağı doğru dallar yapıyor ve karsinoma benziyor. Tahmininizi yenileyin; sıradaki slaytta ilk tahminle karşılaştıracağız.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Vakaya dönüş: şimdi ne diyorsun?</a:t>
            </a:r>
          </a:p>
          <a:p/>
          <a:p>
            <a:r>
              <a:t>Aynı soru, aynı şıklar. Dersin başındaki dağılımı hatırlayın. (İki sonucu yan yana göster.)</a:t>
            </a:r>
          </a:p>
          <a:p/>
          <a:p>
            <a:r>
              <a:t>Doğru cevap: A) Granüler hücreli tümör.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Tanı: granüler hücreli tümör · 6/6</a:t>
            </a:r>
          </a:p>
          <a:p/>
          <a:p>
            <a:r>
              <a:t>Patoloğun notu: Neville bu görüntü yüzünden karsinom tanısı konup gereksiz kanser ameliyatı yapılan hastalardan söz ediyor. Dil sırtındaki bir nodülde biyopsiyi derin alın ve istek formuna yeri ve kliniği yazın.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(Zaman kalırsa) Eski ad, yeni ad</a:t>
            </a:r>
          </a:p>
          <a:p/>
          <a:p>
            <a:r>
              <a:t>Zaman kalırsa.</a:t>
            </a:r>
          </a:p>
          <a:p>
            <a:r>
              <a:t>Zaman kalırsa; yoksa atlayın. Adı değişen tümörler; sınavda iki adı da görebilirsiniz.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Çıkış bileti</a:t>
            </a:r>
          </a:p>
          <a:p/>
          <a:p>
            <a:r>
              <a:t>Son kelime bulutu. Hangi konu kafanızı karıştırdı? En büyük çıkan kelimeyle hemen sonraki derse, tükürük bezlerine başlayacağım.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Kaynaklar ve evde tekrar</a:t>
            </a:r>
          </a:p>
          <a:p/>
          <a:p>
            <a:r>
              <a:t>Kaynaklar burada. Evde tekrar için quiz: Neville'in örnek sınav soruları Türkçe, cevap açıklamalı; isteyen karekodu okutup çözsün. İlk üçü gelecek derste burada anarım. On dakika ara; sonra tükürük bezleri. Telefonlarınızı kapatmayın: aynı adla 'Sıradaki derse geç' düğmesi çıkacak.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Yumuşak Doku Hastalıkları</dc:title>
  <dc:subject>4. Sınıf Patoloji · 17 Kasım 2026</dc:subject>
  <dc:creator>Uzm. Dr. M. Olgun Ak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