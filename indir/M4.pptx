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Tükürük Bezi Hastalıkları ve Tümörleri</a:t>
            </a:r>
          </a:p>
          <a:p/>
          <a:p>
            <a:r>
              <a:t>Sağdaki görüntü bugünün tümörlerinden birinin mikroskobu; dersin ortasında adını söyleyeceğim. Katılım ekranı bu slaytta açık. İlk dersten gelenler telefondaki 'Sıradaki derse geç' düğmesine dokunur; tekrar kod okutmak gerekmez. Yeni gelenler için kod perdede. Herkes girince L ile kapatıp başlıyoruz.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damakta kitle · 5/5</a:t>
            </a:r>
          </a:p>
          <a:p/>
          <a:p>
            <a:r>
              <a:t>Sert, lastiksi kıvamda; kemiğe yapışık değil. Tahmininizi telefondan girin; cevabı dersin sonunda açacağım.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tahminin ne?</a:t>
            </a:r>
          </a:p>
          <a:p/>
          <a:p>
            <a:r>
              <a:t>Dağılımı gösteriyorum, yorum yok. Beş şıktan biri tümör değil, biri iyi huylu, üçü kötü huylu. Dersin sonunda hastanın söylemediği bir şikâyeti öğreneceğiz.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Dersin planı: üç grup · 4/4</a:t>
            </a:r>
          </a:p>
          <a:p/>
          <a:p>
            <a:r>
              <a:t>Her hastalıkta aynı dört soruyu soracağız: hangi bez, kaç yaşında, ağızda nerede, mikroskopta ne var. Rakamlar Neville 5 ve WHO 2022'den.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Tükürük bezleri: yapı ve salgı · 6/6</a:t>
            </a:r>
          </a:p>
          <a:p/>
          <a:p>
            <a:r>
              <a:t>Sublingual bez ve küçük bezlerin çoğu müköz salgı yapar.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Gelişim bozuklukları: aplazi, hipoplazi, ektopi · 4/4</a:t>
            </a:r>
          </a:p>
          <a:p/>
          <a:p>
            <a:r>
              <a:t>Ektopik bezden de normal bezde olduğu gibi kist ve tümör gelişebilir.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Mukosel, ranula ve tükürük kanalı kisti · 6/6</a:t>
            </a:r>
          </a:p>
          <a:p/>
          <a:p>
            <a:r>
              <a:t>Tükürük kanalı kisti ise epitelle döşeli gerçek bir kist; erişkinde görülür ve nüks etmez.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Tükürük bezi taşı (sialolitiazis) · 5/5</a:t>
            </a:r>
          </a:p>
          <a:p/>
          <a:p>
            <a:r>
              <a:t>Mikroskopta kanal genişler, çevresinde iltihap ve fibrozis olur; kanal epitelinde en sık skuamöz metaplazi görülür.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Sialadenit: akut ve kronik · 4/4</a:t>
            </a:r>
          </a:p>
          <a:p/>
          <a:p>
            <a:r>
              <a:t>Kronik sialadenit yavaş gelişen tıkanma ve taşla olur: bezde fibrozis ve parankim atrofisi gelişir. İleri evrede bez çıkarılır.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Kronik sklerozan ve granülomatöz sialadenit · 4/4</a:t>
            </a:r>
          </a:p>
          <a:p/>
          <a:p>
            <a:r>
              <a:t>Granülomatöz sialadenit: tüberküloz, sarkoidoz ve mantarlar. Sarkoidozda parotis büyümesi, üveit, yüz felci ve ateş birlikte olursa Heerfordt sendromu.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Sialore, kserostomi ve sialadenoz · 7/7</a:t>
            </a:r>
          </a:p>
          <a:p/>
          <a:p>
            <a:r>
              <a:t>Sialadenoz: iltihapsız, iki taraflı parotis büyümesi; diyabet, alkolizm, bulimia ve kötü beslenmede görülür.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Lenfoepitelyal sialadenit · 5/5</a:t>
            </a:r>
          </a:p>
          <a:p/>
          <a:p>
            <a:r>
              <a:t>Bu zeminde lenfoma riski artar; en sık MALT tipi düşük dereceli lenfoma, sonra diffüz büyük B hücreli lenfoma.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Sjögren sendromu · 8/8</a:t>
            </a:r>
          </a:p>
          <a:p/>
          <a:p>
            <a:r>
              <a:t>Yaşam boyu lenfoma riski yüzde 5 ila 10, genel nüfusun 15 ila 20 katı; çoğu MALT. Parotis sürekli büyükse beklemeyin. Sırada telefon: puanı siz hesaplayacaksınız.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Sjögren: puanla</a:t>
            </a:r>
          </a:p>
          <a:p/>
          <a:p>
            <a:r>
              <a:t>Hesaplayın. (Sonuç.) Doğru A: biyopsi 3, Schirmer 1, toplam 4. Anti-SSA negatif olabilir; biyopsi bu yüzden değerli. Ama önce dışlama ölçütlerine bakın: IgG4 ilişkili hastalık, radyoterapi, hepatit C, AIDS, sarkoidoz.</a:t>
            </a:r>
          </a:p>
          <a:p/>
          <a:p>
            <a:r>
              <a:t>Doğru cevap: A) Toplam 4: primer Sjögren sınıflamasına girer. Biyopsi (odak skoru ≥1) 3 puan + Schirmer ≤5 mm/5 dk 1 puan = 4. Anti-SSA negatif olsa da eşik aşıldı. Önce dışlama ölçütlerine bak: IgG4 ilişkili hastalık, baş-boyun radyoterapisi, aktif HCV, AIDS, sarkoidoz, amiloidoz, GVHD.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Nekrotizan sialometaplazi · 6/6</a:t>
            </a:r>
          </a:p>
          <a:p/>
          <a:p>
            <a:r>
              <a:t>Patoloğun notu: bu tablo skuamöz hücreli karsinom ya da mukoepidermoid karsinom sanılabilir. İstek formunu boş göndermeyin: enjeksiyon, protez, ani başlangıç. Lezyon birkaç haftada kendiliğinden iyileşir; iyileşmezse yeniden biyopsi.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Lenfoepitelyal kistler · 4/4</a:t>
            </a:r>
          </a:p>
          <a:p/>
          <a:p>
            <a:r>
              <a:t>Lenfoepitelyal kiste benzer, ek olarak epimiyoepitelyal adalar içerir. İki taraflı parotis kistlerinde HIV testi isteyin.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DUS Molası 1/2</a:t>
            </a:r>
          </a:p>
          <a:p/>
          <a:p>
            <a:r>
              <a:t>Neville'in kitap sonundaki örnek sınav sorularından. 30 saniye. (Sonuç.) Üst dudak. Bu cümleyi birazdan tümörlerde kullanacağız.</a:t>
            </a:r>
          </a:p>
          <a:p/>
          <a:p>
            <a:r>
              <a:t>Doğru cevap: D) Üst dudak. 1715 mukoselin %82'si alt dudakta, üst dudakta hiç yok. Tümörlerde tablo ters: üst dudak tümörü sık, alt dudak tümörü nadir. Üst dudakta 'mukosel' gören, tümörü düşünür.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DUS Molası 2/2</a:t>
            </a:r>
          </a:p>
          <a:p/>
          <a:p>
            <a:r>
              <a:t>(Sonuç.) Lenfoma; çoğu MALT. Bu ara tümör dışı bloğu kapatıyor; sırada tümörler.</a:t>
            </a:r>
          </a:p>
          <a:p/>
          <a:p>
            <a:r>
              <a:t>Doğru cevap: D) Lenfoma. Yaşam boyu lenfoma riski %5–10, genel nüfusun 15–20 katı; çoğu MALT lenfoması. Kalıcı parotis büyümesi, lenfadenopati, düşük C4 ve kriyoglobulinemi uyarı işaretleri.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Tükürük bezi tümörleri: genel · 7/7</a:t>
            </a:r>
          </a:p>
          <a:p/>
          <a:p>
            <a:r>
              <a:t>Sublingual bezde tümör nadir ama gördüğünüzde neredeyse hep malign. Kural: bez küçüldükçe malign olasılığı artar. Rakamlar Neville'in beş büyük serisinden.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Pleomorfik adenom · 7/7</a:t>
            </a:r>
          </a:p>
          <a:p/>
          <a:p>
            <a:r>
              <a:t>Uzun süre bırakılırsa yüzde 3 ila 4'üne kadar malign dönüşür ve risk süreyle artar. Gen değişikliği PLAG1 ya da HMGA2.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Warthin tümörü · 5/5</a:t>
            </a:r>
          </a:p>
          <a:p/>
          <a:p>
            <a:r>
              <a:t>Mikroskopta papiller kistik yapılar: iki sıra pembe onkositik hücre ve altında germinal merkezli lenfoid doku.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Onkositom, bazal hücreli ve kanaliküler adenom · 6/6</a:t>
            </a:r>
          </a:p>
          <a:p/>
          <a:p>
            <a:r>
              <a:t>Yaşlı kadında mavimsi bir nodül olarak gelir ve mukosel sanılabilir. Sırada telefon: üst dudakta bir nodül.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Üst dudakta nodül</a:t>
            </a:r>
          </a:p>
          <a:p/>
          <a:p>
            <a:r>
              <a:t>(Sonuç.) Doğru B: kanaliküler adenom. İki ipucu: üst dudak ve yaş. Mukosel üst dudakta neredeyse hiç olmaz; DUS sorusunu hatırlayın.</a:t>
            </a:r>
          </a:p>
          <a:p/>
          <a:p>
            <a:r>
              <a:t>Doğru cevap: B) Kanaliküler adenom. Üst dudakta mukosel neredeyse hiç olmaz; yaşlı hastada üst dudak nodülü kanaliküler adenomdur (%66–78'i üst dudakta). Üst dudak tümörlerinin yalnız %9–25'i malign; nedeni kanaliküler adenomun sıklığı.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Mukoepidermoid karsinom · 7/7</a:t>
            </a:r>
          </a:p>
          <a:p/>
          <a:p>
            <a:r>
              <a:t>Gen değişikliği CRTC1 ya da 3 ile MAML2 füzyonu.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Adenoid kistik karsinom · 6/6</a:t>
            </a:r>
          </a:p>
          <a:p/>
          <a:p>
            <a:r>
              <a:t>Gen değişikliği MYB::NFIB.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Asinik hücreli karsinom ve sekretuar karsinom · 5/5</a:t>
            </a:r>
          </a:p>
          <a:p/>
          <a:p>
            <a:r>
              <a:t>Bu füzyon TRK inhibitörü ilaçlar için bir hedef olabilir.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Polimorf adenokarsinom ve karsinom ex PA · 5/5</a:t>
            </a:r>
          </a:p>
          <a:p/>
          <a:p>
            <a:r>
              <a:t>Prognozu kapsül invazyonu belirler: kapsül içinde kalan iyi, çevre dokuya yaygın yayılan kötü seyirli.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Diğer kötü huylu tümörler · 5/5</a:t>
            </a:r>
          </a:p>
          <a:p/>
          <a:p>
            <a:r>
              <a:t>Adenokarsinom NOS başka hiçbir sınıfa girmeyen adenokarsinomlar; dışlama tanısı. Sırada telefon: tümörleri genleriyle eşleştireceksiniz.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Tümör ve gen</a:t>
            </a:r>
          </a:p>
          <a:p/>
          <a:p>
            <a:r>
              <a:t>Telefonda dört tümör, dört gen. Eşleştirin. (Sonuç.) Pleomorfik adenom PLAG1 ya da HMGA2; mukoepidermoid karsinom MAML2; adenoid kistik karsinom MYB::NFIB; sekretuar karsinom ETV6::NTRK3. Küçük bir biyopside patolog tanıyı bu genlerle doğruluyor.</a:t>
            </a:r>
          </a:p>
          <a:p/>
          <a:p>
            <a:r>
              <a:t>Doğru eşleşme: Pleomorfik adenom → PLAG1 / HMGA2; Mukoepidermoid karsinom → CRTC1/3::MAML2; Adenoid kistik karsinom → MYB::NFIB; Sekretuar karsinom → ETV6::NTRK3. Pleomorfik adenom PLAG1 ya da HMGA2; mukoepidermoid karsinom MAML2 füzyonu; adenoid kistik karsinom MYB::NFIB; sekretuar karsinom ETV6::NTRK3. Patolog küçük biyopside tanıyı bu genlerle doğrular.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Açılış vakası: hastanın söylemediği · 3/3</a:t>
            </a:r>
          </a:p>
          <a:p/>
          <a:p>
            <a:r>
              <a:t>Hasta başta söylemedi: son iki ayda damağında karıncalanma ve uyuşma var. Bu bir sinir bulgusu. Tahmininizi yenileyin.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Vakaya dönüş: şimdi ne diyorsun?</a:t>
            </a:r>
          </a:p>
          <a:p/>
          <a:p>
            <a:r>
              <a:t>Aynı şıklar. Dersin başındaki dağılımı hatırlayın. (İki sonucu yan yana göster.)</a:t>
            </a:r>
          </a:p>
          <a:p/>
          <a:p>
            <a:r>
              <a:t>Doğru cevap: C) Adenoid kistik karsinom.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olası tanı: adenoid kistik karsinom · 5/5</a:t>
            </a:r>
          </a:p>
          <a:p/>
          <a:p>
            <a:r>
              <a:t>Tedavi geniş cerrahi, gerekirse radyoterapi. Geç akciğer metastazı için bu hastayı yirmi yıl izleyeceğiz.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(Zaman kalırsa) Eski ad, yeni ad: WHO 2022</a:t>
            </a:r>
          </a:p>
          <a:p/>
          <a:p>
            <a:r>
              <a:t>Zaman kalırsa.</a:t>
            </a:r>
          </a:p>
          <a:p>
            <a:r>
              <a:t>Zaman kalırsa; yoksa atlayın. Adı değişen tümörler; sınavda iki adı da görebilirsiniz.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Çıkış bileti</a:t>
            </a:r>
          </a:p>
          <a:p/>
          <a:p>
            <a:r>
              <a:t>Son kelime bulutu. Hangi konu kafanızı karıştırdı? En büyük kelimeyle 24 Kasım'da başlayacağım.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Kaynaklar ve evde tekrar</a:t>
            </a:r>
          </a:p>
          <a:p/>
          <a:p>
            <a:r>
              <a:t>Kaynaklar burada. Evde tekrar için quiz: Neville'in örnek sınav soruları Türkçe, cevap açıklamalı; isteyen karekodu okutup çözsün. İlk üçü gelecek derste burada anarım.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Tükürük Bezi Hastalıkları ve Tümörleri</dc:title>
  <dc:subject>4. Sınıf Patoloji · 17 Kasım 2026</dc:subject>
  <dc:creator>Uzm. Dr. M. Olgun Ak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