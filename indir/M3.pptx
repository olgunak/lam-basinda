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Lst>
  <p:sldSz cx="12192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Yumuşak Doku Hastalıkları</a:t>
            </a:r>
          </a:p>
          <a:p/>
          <a:p>
            <a:r>
              <a:t>Günaydın. Bugün iki ders arka arkaya: önce ağzın yumuşak doku kitleleri, sonra tükürük bezleri. Sağdaki pembe hücreleri görüyorsunuz; kim olduklarını dersin ortasında söyleyeceğim, bir tuzak kuruyorlar. Karekod perdede: okutun; hesap yok, uygulama yok. Takma ad isterseniz yazın; dersin sonunda liderlik tablosu var, doğru ve hızlı olan kazanıyor. Herkes girince → ile vakaya geçiyoruz. (L: katılım ekranını gizle/göster.)</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Açılış vakası: diş etinde kanayan kitle</a:t>
            </a:r>
          </a:p>
          <a:p/>
          <a:p>
            <a:r>
              <a:t>Hastamız yedi aylık gebe. Üç haftadır üst ön diş etinde bir kitle büyüyor; fırçalarken kanıyor, ağrı yok. Diş taşı var, diş eti iltihaplı. Fotoğrafa bakın ve tahmininizi girin; şıklar telefonunuzda açık. Cevabı dersin sonunda açacağım, sonraki slaytta yalnız dağılımı göreceğiz.</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Açılış vakası: tahminin ne?</a:t>
            </a:r>
          </a:p>
          <a:p/>
          <a:p>
            <a:r>
              <a:t>Sonuçları gösteriyorum ama yorum yapmıyorum. Beş şıkkın dördü diş etinde sık görülen kitleler; biri kötü huylu. Bu dağılımın fotoğrafını çekin, dersin sonunda aynı soruyu yeniden soracağım.</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Önce adres: kitle nerede?</a:t>
            </a:r>
          </a:p>
          <a:p/>
          <a:p>
            <a:r>
              <a:t>Bütün dersi bir soruya bağlıyorum: önce adres. Kitle diş etindeyse büyük olasılıkla dört reaktif lezyondan biri; tedavileri de ortak: periosta kadar çıkar, komşu dişleri temizle, yoksa nükseder. Diş etinde değilse ikinci soru: hangi doku? Lif, sinir, damar, yağ, kas. Ama bir uyarı: diş eti metastazların da en sevdiği yer ve piyojenik granülom gibi görünebilir. Bu yüzden çıkardığınız her parça patoloğa gelir; bunu birazdan bir hastada göreceğiz.</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Diş eti dörtlüsü: aynı adres, dört hastalık</a:t>
            </a:r>
          </a:p>
          <a:p/>
          <a:p>
            <a:r>
              <a:t>Dört fotoğraf, dört hastalık; üçü diş etinde. Piyojenik granülom kırmızıdır, kolay kanar, hızlı büyür; yüzde 75 ila 85'i diş etinde. Periferik dev hücreli granülom daha koyu, mor-mavidir ve yalnızca diş etinde ya da dişsiz alveol kretinde görülür. Periferik ossifiye fibrom da yalnız diş etinde, interdental papilladan çıkar; çoğu ergen ve genç kadın. Fibrom ağzın en sık 'tümörü' ama aslında reaktif bir hiperplazi; en sık yeri diş eti değil, yanakta ısırma hattı. Bu yüzden dördüncü fotoğraf yanaktan.</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Piyojenik granülom: ne piyojenik ne granülom</a:t>
            </a:r>
          </a:p>
          <a:p/>
          <a:p>
            <a:r>
              <a:t>Adı iki kez yanlış: irin yok, granülom da yok. Aslında hızla çoğalan küçük damarlar; mikroskopta lobüller hâlinde kapiller yumakları görüyorsunuz. WHO 2022 lobüler olanlara lobüler kapiller hemanjiyom diyor ve eski adı önermiyor; ama klinikte herkes hâlâ piyojenik granülom diyor. Hormonlar büyütür: gebelik tümörü ilk üç ayda başlar, yedinci aya kadar artar. Doğumdan sonra bir kısmı kendiliğinden geriler ya da sertleşip fibroma döner. Pratik kural: gebelikte çıkarılırsa daha sık nükseder; işlev ya da estetik sorun yoksa doğumu bekleyin. Çıkarırken periosta kadar inin ve komşu dişlerdeki diş taşını temizleyin; nüks yüzde 3 ila 15.</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Yalnız diş etinde: PDHG ve POF</a:t>
            </a:r>
          </a:p>
          <a:p/>
          <a:p>
            <a:r>
              <a:t>İki lezyon yalnız diş etinde yaşar. Periferik dev hücreli granülom mor-mavidir, mikroskopta kanamalı bir zeminde çok çekirdekli dev hücreler görürüz. Altındaki kemikte çanak gibi bir rezorpsiyon yapabilir; o zaman santral dev hücreli granülomun kemikten taşıp taşmadığını radyografi söyler. Önemli: hiperparatiroidinin kahverengi tümörü mikroskopta aynıdır; tekrarlayan ya da çok sayıda lezyonda kalsiyum ve PTH isteyin. Periferik ossifiye fibrom ergen ve genç kadın hastalığı; adını içindeki kemikten alır. Sağdaki gibi ülserli olunca piyojenik granülom sanılır; bu lezyon iki kez nükset. Kural üçü için aynı: periosta kadar çıkar, dişleri temizle. Sırada telefon: dört diş eti kitlesi.</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Dört diş eti kitlesi: hangisi PDHG?</a:t>
            </a:r>
          </a:p>
          <a:p/>
          <a:p>
            <a:r>
              <a:t>Dört diş eti kitlesi. Hangisi periferik dev hücreli granülom? Renge bakın. (Sonuç.) Doğru C: koyu, mor-kırmızı. A parlak kırmızı ve lobüler: piyojenik granülom. B kırmızı ve ülserli ama periferik ossifiye fibrom; az önce dediğim gibi ülserli olunca piyojenik granülom sanılır. D pembe ve düzgün: fibrom. Renk ipucu verir; tanıyı biyopsi koyar.</a:t>
            </a:r>
          </a:p>
          <a:p/>
          <a:p>
            <a:r>
              <a:t>Doğru cevap: C. C: koyu, mor-kırmızı kitle; periferik dev hücreli granülom yalnız diş etinde ve dişsiz alveol kretinde görülür. A piyojenik granülom (parlak kırmızı, lobüler), B periferik ossifiye fibrom (ülserli olunca piyojenik granülom sanılır), D fibrom. Renk ipucu verir; tanıyı biyopsi koyar.</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Dev hücreli fibrom: papillom kılığında</a:t>
            </a:r>
          </a:p>
          <a:p/>
          <a:p>
            <a:r>
              <a:t>Fibromun kardeşi: dev hücreli fibrom. Daha genç hastada, yarısı diş etinde. Yüzeyi pürüzlü olduğu için klinikte papillom sanılır. Mikroskopta adını veren hücreler: yüzeye yakın büyük, yıldızsı, bazen çok çekirdekli fibroblastlar. Sıradan fibromun aksine kronik irritasyonla ilişkili değil. Basit eksizyon yeterli.</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Protezin açtığı kitleler</a:t>
            </a:r>
          </a:p>
          <a:p/>
          <a:p>
            <a:r>
              <a:t>İki protez lezyonu. Epulis fissuratum uyumsuz bir protez kenarının açtığı kıvrımlar: protezin kenarı iki kıvrımın arasındaki yarığa oturur. Eksizyon yeterli değil; protezi yenilemezseniz geri gelir. İnflamatuvar papiller hiperplazi sert damakta, protezin altında, çakıl taşı gibi kırmızı papiller. Protezi gece gündüz takanların yaklaşık beşte birinde görülür; çoğunda kandida da vardır. Erken dönemde protezi geceleri çıkarmak ve antifungal yeter. Patolog için not: ikisinde de yüzey epiteli psödoepitelyomatöz hiperplazi yapabilir, karsinom sanılmamalı.</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DUS Molası 1/2</a:t>
            </a:r>
          </a:p>
          <a:p/>
          <a:p>
            <a:r>
              <a:t>İlk DUS sorusu, Neville'in kitap sonundaki örnek sınav sorularından. 30 saniye. (Sonuç.) Piyojenik granülom: ikisi de diş etinde kırmızı, ülserli kitle. Ayırımı mikroskop yapar.</a:t>
            </a:r>
          </a:p>
          <a:p/>
          <a:p>
            <a:r>
              <a:t>Doğru cevap: D) Piyojenik granülom. İkisi de diş etinde, kırmızı ve sıklıkla ülserli kitle. PDHG daha çok mor-mavidir ve yalnız diş eti ya da alveol kretinde görülür; ayırımı mikroskop yapar: çok çekirdekli dev hücreler.</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DUS Molası 2/2</a:t>
            </a:r>
          </a:p>
          <a:p/>
          <a:p>
            <a:r>
              <a:t>İkinci soru bir tanım. (Sonuç.) Epulis bir yer adı: diş eti ya da alveol kreti. Epulis fissuratum, konjenital epulis, epulis granulomatosa; hepsinin ortak noktası adresleri. Bu ara diş eti bloğunu kapatıyor; sırada sinir.</a:t>
            </a:r>
          </a:p>
          <a:p/>
          <a:p>
            <a:r>
              <a:t>Doğru cevap: A) Diş eti ya da alveol kretinde gelişen kitle. Epulis bir yer adıdır: diş eti ya da alveol kretinde gelişen kitle. Epulis fissuratum protezle, konjenital epulis yenidoğanla, epulis granulomatosa çekim boşluğuyla ilişkilidir; ortak noktaları adresleri.</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Travmatik nöroma: kesilen sinirin yarası</a:t>
            </a:r>
          </a:p>
          <a:p/>
          <a:p>
            <a:r>
              <a:t>İkinci adres sorusu: hangi doku? Önce sinir. Kesilen bir sinir iyileşirken skar içinde düzensiz demetler oluşturur; bu travmatik nöroma. Çekim sonrası mental foramen bölgesinde, dilde ve alt dudakta görülür. DUS 'ağrılı tümör' diye sorar; ama Neville'e göre yalnızca dörtte biri ile üçte biri ağrılı. Mental sinirdekiler protez bastırınca ağrır; hasta protezi takamadığını söyler. Tedavi sinirin proksimal ucuyla birlikte eksizyon.</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Granüler hücreli tümör ve konjenital epulis</a:t>
            </a:r>
          </a:p>
          <a:p/>
          <a:p>
            <a:r>
              <a:t>Başlık slaytındaki pembe hücreler bunlardı: granüler hücreli tümör. Dil sırtında ağrısız, sarımsı, sert bir nodül; kadında üç kat sık. Hücreler iri, sitoplazmaları granüllerle dolu; S100 pozitif, Schwann hücresi kökenli. Yenidoğandaki kuzeni konjenital epulis: doğumda üst alveol kretinde polipoid kitle, yaklaşık yüzde 90'ı kız bebek. Mikroskopta benzer ama S100 negatif; nüksetmez, hatta kendiliğinden küçülebilir. Patoloğun notu: granüler hücreli tümörün üstündeki epitel olguların yarısına kadarında aşağı doğru uzanan dallar yapar; buna psödoepitelyomatöz hiperplazi diyoruz. Yüzeysel bir parçada bu karsinoma çok benzer ve Neville gereksiz kanser ameliyatı yapılan hastalardan söz ediyor. Biyopsiyi derin alın ve istek formuna 'dil sırtı, ağrısız nodül' yazın; dil sırtı ağız kanserinin olağan yeri değil. Sırada telefon: patolog gibi düşüneceksiniz.</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Patolog gibi düşün</a:t>
            </a:r>
          </a:p>
          <a:p/>
          <a:p>
            <a:r>
              <a:t>Rapor geldi: yüzeyde psödoepitelyomatöz hiperplazi, invaziv karsinom dışlanamadı. Ne yaparsınız? (Sonuç.) Doğru B: derin biyopsiyi tekrarlayın ve formu doldurun. Dil sırtında ağrısız nodül granüler hücreli tümörü düşündürür; altındaki granüler hücreleri görürsem tanı biter. Geniş rezeksiyon bu hastaya yapılabilecek en kötü şey.</a:t>
            </a:r>
          </a:p>
          <a:p/>
          <a:p>
            <a:r>
              <a:t>Doğru cevap: B) Derin insizyonel biyopsiyi tekrarlarım; istek formuna yeri ve kliniği yazarım. Dil sırtında ağrısız nodül ve yüzeyde psödoepitelyomatöz hiperplazi: granüler hücreli tümörü düşün. Altındaki granüler hücreleri görmek için derin biyopsi gerekir; yüzeysel parçada PEH karsinom sanılabilir. Dil sırtı ağız kanseri için olağan bir yer değil.</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Schwannom, nörofibrom ve NF1</a:t>
            </a:r>
          </a:p>
          <a:p/>
          <a:p>
            <a:r>
              <a:t>Sinirin iki iyi huylu tümörü. Schwannom kapsüllüdür; ağızda en sık dilde. Mikroskopta iki desen var: Antoni A'da hücre çekirdekleri palizat yapar, aralarındaki pembe alanlara Verocay cisimciği denir; Antoni B gevşek ve miksoiddir. DUS bunu sever. Nörofibrom kapsülsüzdür ve önemli bir soru sordurur: bu hastada NF1 var mı? NF1 otozomal dominant; deride café-au-lait lekeleri, koltuk altında çillenme, gözde Lisch nodülleri. Hastaların yüzde 8 ila 13'ünde malign periferik sinir kılıfı tümörü gelişir; bu yüzden büyüyen ya da ağrıyan bir nörofibrom beklemez.</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MEN 2B: dildeki nöromalar tiroidi haber verir</a:t>
            </a:r>
          </a:p>
          <a:p/>
          <a:p>
            <a:r>
              <a:t>Bu slayt bir hayat kurtarabilir. MEN 2B'de dil ucunda, dudaklarda, ağız köşelerinde çok sayıda küçük nöroma olur; dudaklar kalın ve çıkıktır. Neville'e göre ağız nöromaları çoğu zaman hastalığın ilk bulgusu ve bebeklikte bile görülebilir. Arkasındaki tehlike medüller tiroid karsinomu: hastaların hepsinde gelişir. Prognoz ağızdaki bulguların erken tanınmasına bağlı; tiroidektomi mümkünse ilk yaşta yapılır. Yani bu dili ilk gören kişi siz olabilirsiniz. Bir satır da bebeğin melanotik nöroektodermal tümörü: bir yaşın altında, üst çene ön bölgede, mavi-siyah, hızla büyüyen kitle; idrarda vanilmandelik asit yüksek.</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Hemanjiyom mu, vasküler malformasyon mu?</a:t>
            </a:r>
          </a:p>
          <a:p/>
          <a:p>
            <a:r>
              <a:t>Damar lezyonlarında iki ayrı aile var; ISSVA sınıflaması bunu ayırır. Hemanjiyom bir tümör: çoğu doğumda yoktur, ilk haftalarda çıkar, hızla büyür, sonra geriler; yarısı beş yaşında, yüzde 90'ı dokuz yaşında kaybolur. GLUT1 pozitiftir; çoğunu bekleriz, gerekirse propranolol. Malformasyon ise damar yapısının bozukluğu: doğumda vardır, çocukla birlikte büyür ve hiç gerilemez; GLUT1 negatif. Venöz olan mor-mavidir ve bastırınca kolayca söner. Pratik uyarı Neville'den: tanısı konmamış kemik içi bir lezyonda biyopsiden önce iğneyle aspirasyon yapın; malformasyonun yanında diş çekiminden sonra ölümcül kanamalar bildirildi.</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Lenfatik malformasyon, Sturge-Weber, lipom</a:t>
            </a:r>
          </a:p>
          <a:p/>
          <a:p>
            <a:r>
              <a:t>Üç hızlı tablo. Lenfatik malformasyon, eski adıyla lenfanjiyom: ağızda en sık dilin ön üçte ikisinde; yüzey kurbağa yumurtası gibi küçük kabarcıklarla kaplı, dil büyür. Boyunda büyük kistli formuna kistik higroma deniyor; yenidoğanda havayolunu tıkayabilir. Sturge-Weber: yüzde trigeminal dağılımda porto şarabı lekesi; lekesi birinci dalı tutan çocukların yüzde 15 ila 20'sinde beyin zarında aynı taraflı damar anomalisi, nöbet ve zihinsel yetersizlik. Ağızda o bölgede cerrahi yaparken ciddi kanama olabilir. Lipom: yanakta yumuşak, sarımsı kitle; basit eksizyon.</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Kötü huylu üç hikâye</a:t>
            </a:r>
          </a:p>
          <a:p/>
          <a:p>
            <a:r>
              <a:t>Kötü huylu üç kısa hikâye. Kaposi sarkomu: HHV-8 ile ilişkili; dört formu var: klasik, Afrika'da endemik, organ naklinden sonra iatrojenik ve AIDS'e eşlik eden. AIDS'li hastaların yaklaşık yüzde 70'inde bir noktada ağız lezyonu olur, en sık sert damakta; mor lekeler bastırınca solmaz. Rabdomiyosarkom çocukların sarkomu: çocukluk çağı yumuşak doku sarkomlarının yarısı; en sık baş-boyunda, ağız içinde en sık damakta. Üçüncü hikâye en önemlisi: metastaz. Ağız yumuşak dokusuna gelen metastazların yarısından fazlası diş etine gelir ve piyojenik granülom gibi görünür. Erkekte en sık akciğerden, kadında memeden. Hastaların dörtte birinde ağızdaki lezyon kanserin ilk bulgusu. Dersin başında 'çıkardığın her doku patolojiye' dememin nedeni bu.</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Açılış vakası: doğumdan sonra</a:t>
            </a:r>
          </a:p>
          <a:p/>
          <a:p>
            <a:r>
              <a:t>Hastamız doğurdu. Üç ay sonra kitle küçülmüş, rengi solmuş, sertleşmiş. Hormon etkisi çekilince lezyon olgunlaştı. Şimdi tahmininizi yenileyin; sıradaki slaytta ilk tahminle karşılaştıracağız.</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Vakaya dönüş: şimdi ne diyorsun?</a:t>
            </a:r>
          </a:p>
          <a:p/>
          <a:p>
            <a:r>
              <a:t>Aynı soru, aynı şıklar. Dersin başındaki dağılımı hatırlayın. (İki sonucu yan yana göster.)</a:t>
            </a:r>
          </a:p>
          <a:p/>
          <a:p>
            <a:r>
              <a:t>Doğru cevap: A) Piyojenik granülom (gebelik tümörü).</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Tanı: gebelik tümörü (piyojenik granülom)</a:t>
            </a:r>
          </a:p>
          <a:p/>
          <a:p>
            <a:r>
              <a:t>Kanıtları sırayla koyalım. Adres: üst ön diş eti. Klinik: kırmızı, kolay kanayan, hızlı büyüyen kitle, gebelik ve diş taşı. Seyir: doğumdan sonra küçüldü, sertleşti; Neville'in fotoğrafı tam bu. Mikroskop: lobüler kapiller damarlar. Yönetim: doğumdan sonra tamamen gerilemezse periosta kadar çıkarın, komşu dişleri temizleyin ve dokuyu mutlaka patolojiye gönderin; diş etindeki her kırmızı kitle piyojenik granülom değildir.</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(Zaman kalırsa) Eski ad, yeni ad ve atladıklarımız</a:t>
            </a:r>
          </a:p>
          <a:p/>
          <a:p>
            <a:r>
              <a:t>Zaman kalırsa.</a:t>
            </a:r>
          </a:p>
          <a:p>
            <a:r>
              <a:t>Zaman kalırsa; yoksa atlayın. Solda adı değişenler: piyojenik granülom WHO'da lobüler kapiller hemanjiyom, lenfanjiyom Neville'de lenfatik malformasyon, malign fibröz histiyositom artık indiferansiye pleomorfik sarkom, hemanjiyoperisitomların çoğu soliter fibröz tümör. Sağda bugün yalnız adını andıklarımız; DUS'ta çıkarsa tek satırlık ipucu bu.</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Çıkış bileti</a:t>
            </a:r>
          </a:p>
          <a:p/>
          <a:p>
            <a:r>
              <a:t>Son kelime bulutu. Hangi konu kafanızı karıştırdı? En büyük çıkan kelimeyle hemen sonraki derse, tükürük bezlerine başlayacağım.</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Kaynaklar ve evde tekrar</a:t>
            </a:r>
          </a:p>
          <a:p/>
          <a:p>
            <a:r>
              <a:t>Kaynaklar burada. Evde tekrar için quiz: Neville'in örnek sınav soruları Türkçe, cevap açıklamalı; isteyen karekodu okutup çözsün. İlk üçü gelecek derste burada anarım. On dakika ara; sonra tükürük bezleri. Telefonlarınızı kapatmayın: aynı adla 'Sıradaki derse geç' düğmesi çıkacak.</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jpg"/><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jp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jp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jp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jp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jp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jp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jp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jp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jpg"/><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jpg"/><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jpg"/><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jpg"/><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jpg"/><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7.jpg"/><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8.jpg"/><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9.jpg"/><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0.jpg"/><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1.jpg"/><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2.jpg"/><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3.jpg"/><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4.jpg"/><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5.jpg"/><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6.jpg"/><Relationship Id="rId3" Type="http://schemas.openxmlformats.org/officeDocument/2006/relationships/notesSlide" Target="../notesSlides/notesSlide26.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01.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02.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03.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04.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05.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06.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07.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08.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09.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10.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11.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12.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14.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15.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16.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17.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18.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19.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20.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21.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22.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23.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24.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25.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26.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28.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Yumuşak Doku Hastalıkları</dc:title>
  <dc:subject>4. Sınıf Patoloji · 17 Kasım 2026</dc:subject>
  <dc:creator>Uzm. Dr. M. Olgun Ak</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